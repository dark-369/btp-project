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DM Sans" pitchFamily="2" charset="77"/>
      <p:regular r:id="rId21"/>
      <p:bold r:id="rId22"/>
      <p:italic r:id="rId23"/>
      <p:boldItalic r:id="rId24"/>
    </p:embeddedFont>
    <p:embeddedFont>
      <p:font typeface="DM Sans Medium" panose="020F0502020204030204" pitchFamily="34" charset="0"/>
      <p:regular r:id="rId25"/>
      <p:bold r:id="rId26"/>
      <p:italic r:id="rId27"/>
      <p:boldItalic r:id="rId28"/>
    </p:embeddedFont>
    <p:embeddedFont>
      <p:font typeface="Merriweather" pitchFamily="2" charset="77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78">
          <p15:clr>
            <a:srgbClr val="000000"/>
          </p15:clr>
        </p15:guide>
        <p15:guide id="2" pos="2880">
          <p15:clr>
            <a:srgbClr val="000000"/>
          </p15:clr>
        </p15:guide>
        <p15:guide id="3" pos="57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F5CBFF-7179-497F-883D-9485379C41B6}">
  <a:tblStyle styleId="{B8F5CBFF-7179-497F-883D-9485379C41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72"/>
  </p:normalViewPr>
  <p:slideViewPr>
    <p:cSldViewPr snapToGrid="0">
      <p:cViewPr varScale="1">
        <p:scale>
          <a:sx n="112" d="100"/>
          <a:sy n="112" d="100"/>
        </p:scale>
        <p:origin x="680" y="192"/>
      </p:cViewPr>
      <p:guideLst>
        <p:guide orient="horz" pos="1778"/>
        <p:guide pos="2880"/>
        <p:guide pos="5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92eeecfc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e92eeecfc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92eeecfc0_7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e92eeecfc0_7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92eeecfc0_78_6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e92eeecfc0_78_6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92eeecfc0_78_2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e92eeecfc0_78_2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1e961298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e1e961298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92eeecfc0_78_18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e92eeecfc0_78_18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youtu.be/WFd4Fw3oVVk?si=EjUJ5eaiamoMZvaC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NjyQYUQI-CM?si=JS0Xnx9c1OorL5mw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9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29100" y="4242974"/>
            <a:ext cx="3133725" cy="11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610874" y="1521265"/>
            <a:ext cx="96111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FDFCF0"/>
                </a:solidFill>
                <a:latin typeface="Merriweather"/>
                <a:ea typeface="Merriweather"/>
                <a:cs typeface="Merriweather"/>
                <a:sym typeface="Merriweather"/>
              </a:rPr>
              <a:t>Bidirectional English-Hindi Translation and</a:t>
            </a:r>
            <a:br>
              <a:rPr 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800" b="1" i="0" u="none" strike="noStrike" cap="none">
                <a:solidFill>
                  <a:srgbClr val="FDFCF0"/>
                </a:solidFill>
                <a:latin typeface="Merriweather"/>
                <a:ea typeface="Merriweather"/>
                <a:cs typeface="Merriweather"/>
                <a:sym typeface="Merriweather"/>
              </a:rPr>
              <a:t> Speech-to-Speech Translation</a:t>
            </a:r>
            <a:endParaRPr sz="400"/>
          </a:p>
        </p:txBody>
      </p:sp>
      <p:sp>
        <p:nvSpPr>
          <p:cNvPr id="88" name="Google Shape;88;p13"/>
          <p:cNvSpPr txBox="1"/>
          <p:nvPr/>
        </p:nvSpPr>
        <p:spPr>
          <a:xfrm>
            <a:off x="3452850" y="3691775"/>
            <a:ext cx="575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4AF3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 Unified Framework for Regional LLM Adaptation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529050" y="4569671"/>
            <a:ext cx="3133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           </a:t>
            </a:r>
            <a:r>
              <a:rPr lang="en-US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  </a:t>
            </a:r>
            <a:r>
              <a:rPr lang="en-US" sz="15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Prof. Rajiv Misra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409625" y="4887300"/>
            <a:ext cx="361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Indian Institute of Technology Pa</a:t>
            </a:r>
            <a:r>
              <a:rPr lang="en-US" sz="1500">
                <a:solidFill>
                  <a:srgbClr val="F3F3F3"/>
                </a:solidFill>
                <a:latin typeface="DM Sans"/>
                <a:ea typeface="DM Sans"/>
                <a:cs typeface="DM Sans"/>
                <a:sym typeface="DM Sans"/>
              </a:rPr>
              <a:t>tna</a:t>
            </a:r>
            <a:endParaRPr>
              <a:solidFill>
                <a:srgbClr val="F3F3F3"/>
              </a:solidFill>
            </a:endParaRPr>
          </a:p>
        </p:txBody>
      </p:sp>
      <p:pic>
        <p:nvPicPr>
          <p:cNvPr id="91" name="Google Shape;91;p13" title="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9300" y="186400"/>
            <a:ext cx="1378100" cy="10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57487"/>
            <a:ext cx="523875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57487"/>
            <a:ext cx="523875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66775" y="3052762"/>
            <a:ext cx="48806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Regional Localization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538537"/>
            <a:ext cx="4648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As LLMs serve diverse populations, developing sovereign foundation models for morphologically rich languages like Hindi is a critical shift in the industry.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77025" y="3052762"/>
            <a:ext cx="48806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Architectural Shift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77025" y="3538537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Moving from dedicated Encoder-Decoder pairs to unified Causal LLMs requires exploring stability during Parameter-Efficient Fine-Tuning (PEFT).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NEED FOR SOVEREIGN AI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27" y="1789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Preliminary Baseline Paradigms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15"/>
          <p:cNvGrpSpPr/>
          <p:nvPr/>
        </p:nvGrpSpPr>
        <p:grpSpPr>
          <a:xfrm>
            <a:off x="571500" y="1714500"/>
            <a:ext cx="3429000" cy="3238500"/>
            <a:chOff x="571500" y="1714500"/>
            <a:chExt cx="3429000" cy="3238500"/>
          </a:xfrm>
        </p:grpSpPr>
        <p:sp>
          <p:nvSpPr>
            <p:cNvPr id="114" name="Google Shape;114;p15"/>
            <p:cNvSpPr/>
            <p:nvPr/>
          </p:nvSpPr>
          <p:spPr>
            <a:xfrm>
              <a:off x="571500" y="171450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857250" y="20002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003366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Causal LMs (GPT-2)</a:t>
              </a:r>
              <a:endParaRPr sz="22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4B5563"/>
                  </a:solidFill>
                  <a:latin typeface="DM Sans"/>
                  <a:ea typeface="DM Sans"/>
                  <a:cs typeface="DM Sans"/>
                  <a:sym typeface="DM Sans"/>
                </a:rPr>
                <a:t>Suffer from severe “Embedding Tax.” Standard BPE extensively fragments Devanagari.</a:t>
              </a:r>
              <a:endParaRPr sz="200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857250" y="4226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D4AF3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4381500" y="1714500"/>
            <a:ext cx="3429000" cy="3238500"/>
            <a:chOff x="4381500" y="1714500"/>
            <a:chExt cx="3429000" cy="3238500"/>
          </a:xfrm>
        </p:grpSpPr>
        <p:sp>
          <p:nvSpPr>
            <p:cNvPr id="118" name="Google Shape;118;p15"/>
            <p:cNvSpPr/>
            <p:nvPr/>
          </p:nvSpPr>
          <p:spPr>
            <a:xfrm>
              <a:off x="4381500" y="171450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4572000" y="2000250"/>
              <a:ext cx="3107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003366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Seq2Seq (mT5-small</a:t>
              </a:r>
              <a:r>
                <a:rPr lang="en-US" sz="2000" b="1">
                  <a:solidFill>
                    <a:srgbClr val="003366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)</a:t>
              </a:r>
              <a:endParaRPr sz="20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4B5563"/>
                  </a:solidFill>
                  <a:latin typeface="DM Sans"/>
                  <a:ea typeface="DM Sans"/>
                  <a:cs typeface="DM Sans"/>
                  <a:sym typeface="DM Sans"/>
                </a:rPr>
                <a:t>Parameter inefficient for targeted tasks; architectural capacity consumed by massive 250k vocabulary.</a:t>
              </a:r>
              <a:endParaRPr sz="200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4667250" y="4226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D4AF3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21" name="Google Shape;121;p15"/>
          <p:cNvGrpSpPr/>
          <p:nvPr/>
        </p:nvGrpSpPr>
        <p:grpSpPr>
          <a:xfrm>
            <a:off x="8191500" y="1714500"/>
            <a:ext cx="3429000" cy="3238500"/>
            <a:chOff x="8191500" y="1714500"/>
            <a:chExt cx="3429000" cy="3238500"/>
          </a:xfrm>
        </p:grpSpPr>
        <p:sp>
          <p:nvSpPr>
            <p:cNvPr id="122" name="Google Shape;122;p15"/>
            <p:cNvSpPr/>
            <p:nvPr/>
          </p:nvSpPr>
          <p:spPr>
            <a:xfrm>
              <a:off x="8191500" y="171450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8477250" y="2000250"/>
              <a:ext cx="2857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003366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Helsinki - NLP</a:t>
              </a:r>
              <a:endParaRPr sz="22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4B5563"/>
                  </a:solidFill>
                  <a:latin typeface="DM Sans"/>
                  <a:ea typeface="DM Sans"/>
                  <a:cs typeface="DM Sans"/>
                  <a:sym typeface="DM Sans"/>
                </a:rPr>
                <a:t>Strong grammatical foundations but suffers severe domain mismatch on indic origin datasets like IIT-B.</a:t>
              </a:r>
              <a:endParaRPr sz="200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8477250" y="4226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D4AF3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24000"/>
            <a:ext cx="5238900" cy="16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352800"/>
            <a:ext cx="5238900" cy="16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181600"/>
            <a:ext cx="5238900" cy="16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1057275" y="1819275"/>
            <a:ext cx="48807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Sarvam-1 (2.0B)</a:t>
            </a:r>
            <a:endParaRPr sz="21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057275" y="2305050"/>
            <a:ext cx="46482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Regional causal Indic model with efficient native tokenization.</a:t>
            </a:r>
            <a:endParaRPr sz="1500" b="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057275" y="3648075"/>
            <a:ext cx="48807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Pragna-1B (1.25B)</a:t>
            </a:r>
            <a:endParaRPr sz="21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057275" y="4133850"/>
            <a:ext cx="46482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Decoder-only efficiency benchmark featuring RSNorm.</a:t>
            </a:r>
            <a:endParaRPr sz="1500" b="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057275" y="5476875"/>
            <a:ext cx="48807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Param-1 (2.9B)</a:t>
            </a:r>
            <a:endParaRPr sz="21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057275" y="5962650"/>
            <a:ext cx="46482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Largest model tested, featuring Grouped-Query Attention (GQA).</a:t>
            </a:r>
            <a:endParaRPr sz="1500" b="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INDIC FOUNDATION MODELS</a:t>
            </a:r>
            <a:r>
              <a:rPr lang="en-US" sz="36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&amp; Dataset </a:t>
            </a:r>
            <a:endParaRPr/>
          </a:p>
        </p:txBody>
      </p:sp>
      <p:grpSp>
        <p:nvGrpSpPr>
          <p:cNvPr id="140" name="Google Shape;140;p16"/>
          <p:cNvGrpSpPr/>
          <p:nvPr/>
        </p:nvGrpSpPr>
        <p:grpSpPr>
          <a:xfrm>
            <a:off x="6381750" y="1524000"/>
            <a:ext cx="5238900" cy="2355000"/>
            <a:chOff x="6381750" y="1524000"/>
            <a:chExt cx="5238900" cy="2355000"/>
          </a:xfrm>
        </p:grpSpPr>
        <p:sp>
          <p:nvSpPr>
            <p:cNvPr id="141" name="Google Shape;141;p16"/>
            <p:cNvSpPr/>
            <p:nvPr/>
          </p:nvSpPr>
          <p:spPr>
            <a:xfrm>
              <a:off x="6381750" y="1524000"/>
              <a:ext cx="5238900" cy="2295600"/>
            </a:xfrm>
            <a:prstGeom prst="roundRect">
              <a:avLst>
                <a:gd name="adj" fmla="val 4979"/>
              </a:avLst>
            </a:prstGeom>
            <a:solidFill>
              <a:srgbClr val="FFFFFF"/>
            </a:solidFill>
            <a:ln w="9525" cap="flat" cmpd="sng">
              <a:solidFill>
                <a:srgbClr val="D4AF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6381750" y="1524000"/>
              <a:ext cx="5238900" cy="235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285750" tIns="285750" rIns="285750" bIns="28575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dirty="0">
                  <a:solidFill>
                    <a:srgbClr val="003366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Dataset Used</a:t>
              </a:r>
              <a:endParaRPr sz="2100" b="1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Training:</a:t>
              </a:r>
              <a:r>
                <a:rPr lang="en-US" sz="1700" b="0" dirty="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 AI4Bharat </a:t>
              </a:r>
              <a:r>
                <a:rPr lang="en-US" sz="1700" b="0" dirty="0" err="1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Samanantar</a:t>
              </a:r>
              <a:r>
                <a:rPr lang="en-US" sz="1700" b="0" dirty="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 corpus with 100k English–Hindi parallel pairs.</a:t>
              </a:r>
              <a:endParaRPr sz="1700" b="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Evaluation:</a:t>
              </a:r>
              <a:r>
                <a:rPr lang="en-US" sz="1700" b="0" dirty="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 IN22-Gen benchmark, used as an uncontaminated test set for fair comparison.</a:t>
              </a:r>
              <a:endParaRPr sz="1700" b="0" dirty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6667500" y="18733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dirty="0">
                <a:solidFill>
                  <a:srgbClr val="D4AF3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44" name="Google Shape;144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Experimental Pipeline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7" title="harsh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50" y="1849775"/>
            <a:ext cx="11830323" cy="318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7"/>
          <p:cNvGrpSpPr/>
          <p:nvPr/>
        </p:nvGrpSpPr>
        <p:grpSpPr>
          <a:xfrm>
            <a:off x="4152325" y="5429100"/>
            <a:ext cx="4191000" cy="1428900"/>
            <a:chOff x="4000500" y="5143500"/>
            <a:chExt cx="4191000" cy="1428900"/>
          </a:xfrm>
        </p:grpSpPr>
        <p:sp>
          <p:nvSpPr>
            <p:cNvPr id="153" name="Google Shape;153;p17"/>
            <p:cNvSpPr/>
            <p:nvPr/>
          </p:nvSpPr>
          <p:spPr>
            <a:xfrm>
              <a:off x="4000500" y="5143500"/>
              <a:ext cx="4191000" cy="14289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0033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4000500" y="5143500"/>
              <a:ext cx="4191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PEFT Configuration</a:t>
              </a:r>
              <a:endParaRPr sz="1400" b="1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1A1A1A"/>
                </a:buClr>
                <a:buSzPts val="1100"/>
                <a:buFont typeface="DM Sans"/>
                <a:buChar char="●"/>
              </a:pPr>
              <a:r>
                <a:rPr lang="en-US" sz="1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LoRA Rank r = 64, Alpha = 128</a:t>
              </a:r>
              <a:endParaRPr sz="11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300"/>
                </a:spcBef>
                <a:spcAft>
                  <a:spcPts val="0"/>
                </a:spcAft>
                <a:buClr>
                  <a:srgbClr val="1A1A1A"/>
                </a:buClr>
                <a:buSzPts val="1100"/>
                <a:buFont typeface="DM Sans"/>
                <a:buChar char="●"/>
              </a:pPr>
              <a:r>
                <a:rPr lang="en-US" sz="1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Target: All-linear layers</a:t>
              </a:r>
              <a:endParaRPr sz="11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300"/>
                </a:spcBef>
                <a:spcAft>
                  <a:spcPts val="0"/>
                </a:spcAft>
                <a:buClr>
                  <a:srgbClr val="1A1A1A"/>
                </a:buClr>
                <a:buSzPts val="1100"/>
                <a:buFont typeface="DM Sans"/>
                <a:buChar char="●"/>
              </a:pPr>
              <a:r>
                <a:rPr lang="en-US" sz="1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Dropout: 0.05</a:t>
              </a:r>
              <a:endParaRPr sz="11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300"/>
                </a:spcBef>
                <a:spcAft>
                  <a:spcPts val="0"/>
                </a:spcAft>
                <a:buClr>
                  <a:srgbClr val="1A1A1A"/>
                </a:buClr>
                <a:buSzPts val="1100"/>
                <a:buFont typeface="DM Sans"/>
                <a:buChar char="●"/>
              </a:pPr>
              <a:r>
                <a:rPr lang="en-US" sz="1100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Precision: Native BFloat16 (no quantization noise)</a:t>
              </a:r>
              <a:endParaRPr sz="11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 rotWithShape="1">
          <a:blip r:embed="rId4">
            <a:alphaModFix/>
          </a:blip>
          <a:srcRect t="21786" b="21786"/>
          <a:stretch/>
        </p:blipFill>
        <p:spPr>
          <a:xfrm>
            <a:off x="261175" y="1889650"/>
            <a:ext cx="6298800" cy="397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866775" y="2190750"/>
            <a:ext cx="53553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333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 b="1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KV Cache Collapse</a:t>
            </a:r>
            <a:endParaRPr sz="2100" b="1">
              <a:solidFill>
                <a:srgbClr val="EF4444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5">
            <a:alphaModFix/>
          </a:blip>
          <a:srcRect t="1728" b="1719"/>
          <a:stretch/>
        </p:blipFill>
        <p:spPr>
          <a:xfrm>
            <a:off x="866775" y="22288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762000" y="571500"/>
            <a:ext cx="11401500" cy="110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ARCHITECTURAL VULNERABILITIES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07000" y="2667000"/>
            <a:ext cx="5883900" cy="29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Param-1's GQA implementation contains a critical initialization flaw that triggers a </a:t>
            </a:r>
            <a:r>
              <a:rPr lang="en-US" sz="1800" b="1">
                <a:solidFill>
                  <a:srgbClr val="EF4444"/>
                </a:solidFill>
                <a:latin typeface="DM Sans"/>
                <a:ea typeface="DM Sans"/>
                <a:cs typeface="DM Sans"/>
                <a:sym typeface="DM Sans"/>
              </a:rPr>
              <a:t>NoneType Error</a:t>
            </a:r>
            <a:r>
              <a:rPr lang="en-US" sz="1800" b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during early-stage inference.</a:t>
            </a:r>
            <a:endParaRPr sz="1800" b="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475569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rPr>
              <a:t>Crash Trigger:</a:t>
            </a:r>
            <a:r>
              <a:rPr lang="en-US" sz="1700" b="0">
                <a:solidFill>
                  <a:srgbClr val="475569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rPr>
              <a:t> past_key_values[0][0].shape[2] -&gt; None</a:t>
            </a:r>
            <a:endParaRPr sz="1700" b="0">
              <a:solidFill>
                <a:srgbClr val="475569"/>
              </a:solidFill>
              <a:highlight>
                <a:srgbClr val="F8FA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The forward pass assumes the cache is pre-populated at t=0, making standard PEFT pipelines mathematically impossible without surgical architectural patches.</a:t>
            </a:r>
            <a:endParaRPr sz="1800" b="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6" name="Google Shape;166;p18" title="KV_Cache_Bug_2201CS30_harsh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8325" y="2513850"/>
            <a:ext cx="5355299" cy="219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8050" y="5652706"/>
            <a:ext cx="11049000" cy="614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4850" y="1909525"/>
            <a:ext cx="5238750" cy="297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8050" y="5852731"/>
            <a:ext cx="10648949" cy="214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2091275"/>
            <a:ext cx="4497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100" b="1" i="0" u="none" strike="noStrike" cap="none">
                <a:solidFill>
                  <a:srgbClr val="EF4444"/>
                </a:solidFill>
                <a:latin typeface="Merriweather"/>
                <a:ea typeface="Merriweather"/>
                <a:cs typeface="Merriweather"/>
                <a:sym typeface="Merriweather"/>
              </a:rPr>
              <a:t>RoPE Geometry Violation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2782756"/>
            <a:ext cx="4648200" cy="19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After patching KV cache bug, c</a:t>
            </a:r>
            <a:r>
              <a:rPr lang="en-US" sz="17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orrupted sequence lengths cause position IDs to exceed allocated cosine/sine cache boundaries, triggering CUDA device assertion errors.</a:t>
            </a:r>
            <a:endParaRPr sz="1600"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700" y="214768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ARCHITECTURAL VULNERABILITIES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9" title="RoPE_Violation_2201CS30_harsh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47600" y="1982425"/>
            <a:ext cx="6206600" cy="281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2747962"/>
            <a:ext cx="11049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Native Indic tokenization reduces the "Embedding Tax" significantly compared to multilingual models.</a:t>
            </a:r>
            <a:endParaRPr sz="1600"/>
          </a:p>
        </p:txBody>
      </p:sp>
      <p:sp>
        <p:nvSpPr>
          <p:cNvPr id="187" name="Google Shape;187;p20"/>
          <p:cNvSpPr txBox="1"/>
          <p:nvPr/>
        </p:nvSpPr>
        <p:spPr>
          <a:xfrm>
            <a:off x="1196875" y="3719512"/>
            <a:ext cx="248602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2.1x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1196875" y="4767262"/>
            <a:ext cx="24860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Sarvam-1 Token Fertility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933801" y="3719512"/>
            <a:ext cx="239077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4x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4933801" y="4767262"/>
            <a:ext cx="23907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Efficiency Gain vs. BPE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575476" y="3719512"/>
            <a:ext cx="24193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8k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8575476" y="4767262"/>
            <a:ext cx="24193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Token Context Window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TOKEN FERTILITY ADVANTAGE (Sarvam-1)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0" name="Google Shape;200;p21"/>
          <p:cNvGraphicFramePr/>
          <p:nvPr/>
        </p:nvGraphicFramePr>
        <p:xfrm>
          <a:off x="571500" y="2695575"/>
          <a:ext cx="11049000" cy="2609875"/>
        </p:xfrm>
        <a:graphic>
          <a:graphicData uri="http://schemas.openxmlformats.org/drawingml/2006/table">
            <a:tbl>
              <a:tblPr firstRow="1" bandRow="1">
                <a:noFill/>
                <a:tableStyleId>{B8F5CBFF-7179-497F-883D-9485379C41B6}</a:tableStyleId>
              </a:tblPr>
              <a:tblGrid>
                <a:gridCol w="407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Architecture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BLEU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chrF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IndicTrans2 (Oracle)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~1.0B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23.40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53.80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82.10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Sarvam-1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2.0B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19.92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47.67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77.02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Param-1 (Control)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2.9B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12.19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42.94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59.79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Pragna-1B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1.25B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8.64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32.39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63.62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1" name="Google Shape;201;p21"/>
          <p:cNvSpPr/>
          <p:nvPr/>
        </p:nvSpPr>
        <p:spPr>
          <a:xfrm>
            <a:off x="571500" y="3719512"/>
            <a:ext cx="407059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642098" y="3719512"/>
            <a:ext cx="192494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567041" y="3719512"/>
            <a:ext cx="156403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8131075" y="3719512"/>
            <a:ext cx="158412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9715202" y="3719512"/>
            <a:ext cx="190529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71500" y="4243387"/>
            <a:ext cx="407059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642098" y="4243387"/>
            <a:ext cx="192494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6567041" y="4243387"/>
            <a:ext cx="156403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8131075" y="4243387"/>
            <a:ext cx="158412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715202" y="4243387"/>
            <a:ext cx="190529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71500" y="4767262"/>
            <a:ext cx="407059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642098" y="4767262"/>
            <a:ext cx="192494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6567041" y="4767262"/>
            <a:ext cx="156403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8131075" y="4767262"/>
            <a:ext cx="158412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9715202" y="4767262"/>
            <a:ext cx="190529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71500" y="5291137"/>
            <a:ext cx="407059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642098" y="5291137"/>
            <a:ext cx="192494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6567041" y="5291137"/>
            <a:ext cx="156403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8131075" y="5291137"/>
            <a:ext cx="158412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9715202" y="5291137"/>
            <a:ext cx="190529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IN22-GEN: ENGLISH TO HINDI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647700" y="5999362"/>
            <a:ext cx="11049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1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Sarvam-1 surpasses to oracle </a:t>
            </a:r>
            <a:r>
              <a:rPr lang="en-US" sz="1700" i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IndicTrans 2</a:t>
            </a:r>
            <a:r>
              <a:rPr lang="en-US" sz="1700" b="0" i="1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on Hindi-to-English semantic alignment in </a:t>
            </a:r>
            <a:r>
              <a:rPr lang="en-US" sz="1700" i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COMET scores</a:t>
            </a:r>
            <a:r>
              <a:rPr lang="en-US" sz="1700" b="0" i="1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/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IN22-GEN: HINDI TO ENGLISH 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" name="Google Shape;231;p22"/>
          <p:cNvGraphicFramePr/>
          <p:nvPr/>
        </p:nvGraphicFramePr>
        <p:xfrm>
          <a:off x="571500" y="2257538"/>
          <a:ext cx="11049000" cy="2609875"/>
        </p:xfrm>
        <a:graphic>
          <a:graphicData uri="http://schemas.openxmlformats.org/drawingml/2006/table">
            <a:tbl>
              <a:tblPr firstRow="1" bandRow="1">
                <a:noFill/>
                <a:tableStyleId>{B8F5CBFF-7179-497F-883D-9485379C41B6}</a:tableStyleId>
              </a:tblPr>
              <a:tblGrid>
                <a:gridCol w="407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 Architecture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BLEU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chrF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IndicTrans2 (Oracle)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~1.0B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r>
                        <a:rPr lang="en-US" sz="135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9.10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r>
                        <a:rPr lang="en-US" sz="135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7.5</a:t>
                      </a: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</a:t>
                      </a:r>
                      <a:r>
                        <a:rPr lang="en-US" sz="135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r>
                        <a:rPr lang="en-US" sz="135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Sarvam-1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2.0B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24.37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54.51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86.02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A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Param-1 (Control)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2.9B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7.32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19.12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38.19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Pragna-1B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1.25B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18.86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46.10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1A1A1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81.09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/>
          <p:cNvPicPr preferRelativeResize="0"/>
          <p:nvPr/>
        </p:nvPicPr>
        <p:blipFill rotWithShape="1">
          <a:blip r:embed="rId3">
            <a:alphaModFix/>
          </a:blip>
          <a:srcRect t="45680" b="45680"/>
          <a:stretch/>
        </p:blipFill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762000" y="38985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Translations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71500" y="37245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p23"/>
          <p:cNvGrpSpPr/>
          <p:nvPr/>
        </p:nvGrpSpPr>
        <p:grpSpPr>
          <a:xfrm>
            <a:off x="571500" y="2000250"/>
            <a:ext cx="3429000" cy="4000500"/>
            <a:chOff x="571500" y="2000250"/>
            <a:chExt cx="3429000" cy="4000500"/>
          </a:xfrm>
        </p:grpSpPr>
        <p:sp>
          <p:nvSpPr>
            <p:cNvPr id="241" name="Google Shape;241;p23"/>
            <p:cNvSpPr/>
            <p:nvPr/>
          </p:nvSpPr>
          <p:spPr>
            <a:xfrm>
              <a:off x="571500" y="200025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9050" cap="flat" cmpd="sng">
              <a:solidFill>
                <a:srgbClr val="2E7D3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571500" y="2000250"/>
              <a:ext cx="3429000" cy="381000"/>
            </a:xfrm>
            <a:prstGeom prst="roundRect">
              <a:avLst>
                <a:gd name="adj" fmla="val 30000"/>
              </a:avLst>
            </a:prstGeom>
            <a:solidFill>
              <a:srgbClr val="2E7D3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571500" y="2190750"/>
              <a:ext cx="3429000" cy="1905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3"/>
            <p:cNvSpPr txBox="1"/>
            <p:nvPr/>
          </p:nvSpPr>
          <p:spPr>
            <a:xfrm>
              <a:off x="571500" y="200025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Sarvam-1 Mastery</a:t>
              </a:r>
              <a:endParaRPr sz="1600" b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45" name="Google Shape;245;p23"/>
            <p:cNvSpPr txBox="1"/>
            <p:nvPr/>
          </p:nvSpPr>
          <p:spPr>
            <a:xfrm>
              <a:off x="714375" y="2476500"/>
              <a:ext cx="31434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2E7D32"/>
                  </a:solidFill>
                  <a:latin typeface="DM Sans"/>
                  <a:ea typeface="DM Sans"/>
                  <a:cs typeface="DM Sans"/>
                  <a:sym typeface="DM Sans"/>
                </a:rPr>
                <a:t>English → Hindi</a:t>
              </a:r>
              <a:endParaRPr sz="1050" b="1">
                <a:solidFill>
                  <a:srgbClr val="2E7D3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i="1">
                  <a:solidFill>
                    <a:srgbClr val="666666"/>
                  </a:solidFill>
                  <a:latin typeface="DM Sans"/>
                  <a:ea typeface="DM Sans"/>
                  <a:cs typeface="DM Sans"/>
                  <a:sym typeface="DM Sans"/>
                </a:rPr>
                <a:t>"Patients are advised to consult their doctors before starting any new medication or dietary supplements."</a:t>
              </a:r>
              <a:endParaRPr sz="1050" i="1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Result:</a:t>
              </a:r>
              <a:endParaRPr sz="105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मरीजों को सलाह दी जाती है कि वे किसी भी नई दवा या </a:t>
              </a:r>
              <a:r>
                <a:rPr lang="en-US" sz="105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आहार पूरक</a:t>
              </a:r>
              <a:r>
                <a:rPr lang="en-US"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शुरू करने से पहले अपने डॉक्टर से परामर्श करें。</a:t>
              </a:r>
              <a:endParaRPr sz="10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2E7D32"/>
                  </a:solidFill>
                  <a:latin typeface="DM Sans"/>
                  <a:ea typeface="DM Sans"/>
                  <a:cs typeface="DM Sans"/>
                  <a:sym typeface="DM Sans"/>
                </a:rPr>
                <a:t>Hindi → English</a:t>
              </a:r>
              <a:endParaRPr sz="1050" b="1">
                <a:solidFill>
                  <a:srgbClr val="2E7D3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i="1">
                  <a:solidFill>
                    <a:srgbClr val="666666"/>
                  </a:solidFill>
                  <a:latin typeface="DM Sans"/>
                  <a:ea typeface="DM Sans"/>
                  <a:cs typeface="DM Sans"/>
                  <a:sym typeface="DM Sans"/>
                </a:rPr>
                <a:t>"मरीजों को कोई भी नई दवा या आहार पूरक शुरू करने से पहले अपने डॉक्टरों से परामर्श करने की सलाह दी जाती है।"</a:t>
              </a:r>
              <a:endParaRPr sz="1050" i="1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Result:</a:t>
              </a:r>
              <a:endParaRPr sz="105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lang="en-US"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Patients are advised to consult their doctors before starting any new medication or </a:t>
              </a:r>
              <a:r>
                <a:rPr lang="en-US" sz="105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dietary supplement</a:t>
              </a:r>
              <a:r>
                <a:rPr lang="en-US"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0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46" name="Google Shape;246;p23"/>
          <p:cNvGrpSpPr/>
          <p:nvPr/>
        </p:nvGrpSpPr>
        <p:grpSpPr>
          <a:xfrm>
            <a:off x="4381500" y="2000250"/>
            <a:ext cx="3429000" cy="4000500"/>
            <a:chOff x="4381500" y="2000250"/>
            <a:chExt cx="3429000" cy="4000500"/>
          </a:xfrm>
        </p:grpSpPr>
        <p:sp>
          <p:nvSpPr>
            <p:cNvPr id="247" name="Google Shape;247;p23"/>
            <p:cNvSpPr/>
            <p:nvPr/>
          </p:nvSpPr>
          <p:spPr>
            <a:xfrm>
              <a:off x="4381500" y="200025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9050" cap="flat" cmpd="sng">
              <a:solidFill>
                <a:srgbClr val="F57F1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3"/>
            <p:cNvSpPr/>
            <p:nvPr/>
          </p:nvSpPr>
          <p:spPr>
            <a:xfrm>
              <a:off x="4381500" y="2000250"/>
              <a:ext cx="3429000" cy="381000"/>
            </a:xfrm>
            <a:prstGeom prst="roundRect">
              <a:avLst>
                <a:gd name="adj" fmla="val 30000"/>
              </a:avLst>
            </a:prstGeom>
            <a:solidFill>
              <a:srgbClr val="F57F1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3"/>
            <p:cNvSpPr/>
            <p:nvPr/>
          </p:nvSpPr>
          <p:spPr>
            <a:xfrm>
              <a:off x="4381500" y="2190750"/>
              <a:ext cx="3429000" cy="190500"/>
            </a:xfrm>
            <a:prstGeom prst="rect">
              <a:avLst/>
            </a:prstGeom>
            <a:solidFill>
              <a:srgbClr val="F57F1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4381500" y="200025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Pragna-1B Weakness</a:t>
              </a:r>
              <a:endParaRPr sz="1600" b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51" name="Google Shape;251;p23"/>
            <p:cNvSpPr txBox="1"/>
            <p:nvPr/>
          </p:nvSpPr>
          <p:spPr>
            <a:xfrm>
              <a:off x="4524375" y="2476500"/>
              <a:ext cx="31434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F57F17"/>
                  </a:solidFill>
                  <a:latin typeface="DM Sans"/>
                  <a:ea typeface="DM Sans"/>
                  <a:cs typeface="DM Sans"/>
                  <a:sym typeface="DM Sans"/>
                </a:rPr>
                <a:t>English → Hindi</a:t>
              </a:r>
              <a:endParaRPr sz="1050" b="1">
                <a:solidFill>
                  <a:srgbClr val="F57F1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i="1">
                  <a:solidFill>
                    <a:srgbClr val="666666"/>
                  </a:solidFill>
                  <a:latin typeface="DM Sans"/>
                  <a:ea typeface="DM Sans"/>
                  <a:cs typeface="DM Sans"/>
                  <a:sym typeface="DM Sans"/>
                </a:rPr>
                <a:t>"Patients are advised to consult... dietary supplements."</a:t>
              </a:r>
              <a:endParaRPr sz="1050" i="1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Result:</a:t>
              </a:r>
              <a:endParaRPr sz="105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मरीजों को नए दवाओं या </a:t>
              </a:r>
              <a:r>
                <a:rPr lang="en-US" sz="1050" b="1">
                  <a:solidFill>
                    <a:srgbClr val="C62828"/>
                  </a:solidFill>
                  <a:latin typeface="DM Sans"/>
                  <a:ea typeface="DM Sans"/>
                  <a:cs typeface="DM Sans"/>
                  <a:sym typeface="DM Sans"/>
                </a:rPr>
                <a:t>आहार सब्सिडी</a:t>
              </a:r>
              <a:r>
                <a:rPr lang="en-US"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के शुरू करने से पहले...</a:t>
              </a:r>
              <a:endParaRPr sz="10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F57F17"/>
                  </a:solidFill>
                  <a:latin typeface="DM Sans"/>
                  <a:ea typeface="DM Sans"/>
                  <a:cs typeface="DM Sans"/>
                  <a:sym typeface="DM Sans"/>
                </a:rPr>
                <a:t>Hindi → English</a:t>
              </a:r>
              <a:endParaRPr sz="1050" b="1">
                <a:solidFill>
                  <a:srgbClr val="F57F17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i="1">
                  <a:solidFill>
                    <a:srgbClr val="666666"/>
                  </a:solidFill>
                  <a:latin typeface="DM Sans"/>
                  <a:ea typeface="DM Sans"/>
                  <a:cs typeface="DM Sans"/>
                  <a:sym typeface="DM Sans"/>
                </a:rPr>
                <a:t>"...हजारों भक्त एकत्र हुए।"</a:t>
              </a:r>
              <a:endParaRPr sz="1050" i="1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Result:</a:t>
              </a:r>
              <a:endParaRPr sz="105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lang="en-US"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Despite the heavy downpour, </a:t>
              </a:r>
              <a:r>
                <a:rPr lang="en-US" sz="1050" b="1">
                  <a:solidFill>
                    <a:srgbClr val="C62828"/>
                  </a:solidFill>
                  <a:latin typeface="DM Sans"/>
                  <a:ea typeface="DM Sans"/>
                  <a:cs typeface="DM Sans"/>
                  <a:sym typeface="DM Sans"/>
                </a:rPr>
                <a:t>lakhs of devotees</a:t>
              </a:r>
              <a:r>
                <a:rPr lang="en-US"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thronged the temple...</a:t>
              </a:r>
              <a:endParaRPr sz="10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52" name="Google Shape;252;p23"/>
          <p:cNvGrpSpPr/>
          <p:nvPr/>
        </p:nvGrpSpPr>
        <p:grpSpPr>
          <a:xfrm>
            <a:off x="8191500" y="2000250"/>
            <a:ext cx="3429000" cy="4000500"/>
            <a:chOff x="8191500" y="2000250"/>
            <a:chExt cx="3429000" cy="4000500"/>
          </a:xfrm>
        </p:grpSpPr>
        <p:sp>
          <p:nvSpPr>
            <p:cNvPr id="253" name="Google Shape;253;p23"/>
            <p:cNvSpPr/>
            <p:nvPr/>
          </p:nvSpPr>
          <p:spPr>
            <a:xfrm>
              <a:off x="8191500" y="200025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9050" cap="flat" cmpd="sng">
              <a:solidFill>
                <a:srgbClr val="C6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8191500" y="2000250"/>
              <a:ext cx="3429000" cy="381000"/>
            </a:xfrm>
            <a:prstGeom prst="roundRect">
              <a:avLst>
                <a:gd name="adj" fmla="val 30000"/>
              </a:avLst>
            </a:prstGeom>
            <a:solidFill>
              <a:srgbClr val="C6282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3"/>
            <p:cNvSpPr/>
            <p:nvPr/>
          </p:nvSpPr>
          <p:spPr>
            <a:xfrm>
              <a:off x="8191500" y="2190750"/>
              <a:ext cx="3429000" cy="1905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3"/>
            <p:cNvSpPr txBox="1"/>
            <p:nvPr/>
          </p:nvSpPr>
          <p:spPr>
            <a:xfrm>
              <a:off x="8191500" y="2000250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Param-1 Collapse</a:t>
              </a:r>
              <a:endParaRPr sz="1600" b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57" name="Google Shape;257;p23"/>
            <p:cNvSpPr txBox="1"/>
            <p:nvPr/>
          </p:nvSpPr>
          <p:spPr>
            <a:xfrm>
              <a:off x="8334375" y="2476500"/>
              <a:ext cx="31434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C62828"/>
                  </a:solidFill>
                  <a:latin typeface="DM Sans"/>
                  <a:ea typeface="DM Sans"/>
                  <a:cs typeface="DM Sans"/>
                  <a:sym typeface="DM Sans"/>
                </a:rPr>
                <a:t>English → Hindi</a:t>
              </a:r>
              <a:endParaRPr sz="1050" b="1">
                <a:solidFill>
                  <a:srgbClr val="C6282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i="1">
                  <a:solidFill>
                    <a:srgbClr val="666666"/>
                  </a:solidFill>
                  <a:latin typeface="DM Sans"/>
                  <a:ea typeface="DM Sans"/>
                  <a:cs typeface="DM Sans"/>
                  <a:sym typeface="DM Sans"/>
                </a:rPr>
                <a:t>"Patients are advised to consult... dietary supplements."</a:t>
              </a:r>
              <a:endParaRPr sz="1050" i="1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Result:</a:t>
              </a:r>
              <a:endParaRPr sz="105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C62828"/>
                  </a:solidFill>
                  <a:latin typeface="DM Sans"/>
                  <a:ea typeface="DM Sans"/>
                  <a:cs typeface="DM Sans"/>
                  <a:sym typeface="DM Sans"/>
                </a:rPr>
                <a:t>इसके अलावा, इस फोन में 12 मेगापिक्सल का कैमरा दिया गया है। ...</a:t>
              </a:r>
              <a:endParaRPr sz="1050">
                <a:solidFill>
                  <a:srgbClr val="C6282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C62828"/>
                  </a:solidFill>
                  <a:latin typeface="DM Sans"/>
                  <a:ea typeface="DM Sans"/>
                  <a:cs typeface="DM Sans"/>
                  <a:sym typeface="DM Sans"/>
                </a:rPr>
                <a:t>Hindi → English</a:t>
              </a:r>
              <a:endParaRPr sz="1050" b="1">
                <a:solidFill>
                  <a:srgbClr val="C6282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i="1">
                  <a:solidFill>
                    <a:srgbClr val="666666"/>
                  </a:solidFill>
                  <a:latin typeface="DM Sans"/>
                  <a:ea typeface="DM Sans"/>
                  <a:cs typeface="DM Sans"/>
                  <a:sym typeface="DM Sans"/>
                </a:rPr>
                <a:t>"मरीजों को कोई भी नई दवा या आहार पूरक शुरू करने से पहले..."</a:t>
              </a:r>
              <a:endParaRPr sz="1050" i="1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Result:</a:t>
              </a:r>
              <a:endParaRPr sz="105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lang="en-US" sz="1050">
                  <a:solidFill>
                    <a:srgbClr val="C62828"/>
                  </a:solidFill>
                  <a:latin typeface="DM Sans"/>
                  <a:ea typeface="DM Sans"/>
                  <a:cs typeface="DM Sans"/>
                  <a:sym typeface="DM Sans"/>
                </a:rPr>
                <a:t>Police reached the spot and brought the situation under control.</a:t>
              </a:r>
              <a:endParaRPr sz="1050">
                <a:solidFill>
                  <a:srgbClr val="C6282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571500" y="1333500"/>
            <a:ext cx="3810000" cy="27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E7D32"/>
                </a:solidFill>
                <a:latin typeface="Merriweather"/>
                <a:ea typeface="Merriweather"/>
                <a:cs typeface="Merriweather"/>
                <a:sym typeface="Merriweather"/>
              </a:rPr>
              <a:t>Sarvam-1 Mastery</a:t>
            </a:r>
            <a:endParaRPr sz="1800" b="1">
              <a:solidFill>
                <a:srgbClr val="2E7D3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4191000" y="1333500"/>
            <a:ext cx="3810000" cy="381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9A825"/>
                </a:solidFill>
                <a:latin typeface="Merriweather"/>
                <a:ea typeface="Merriweather"/>
                <a:cs typeface="Merriweather"/>
                <a:sym typeface="Merriweather"/>
              </a:rPr>
              <a:t>Pragna-1B Weakness</a:t>
            </a:r>
            <a:endParaRPr sz="1800" b="1">
              <a:solidFill>
                <a:srgbClr val="F9A825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7810500" y="1333500"/>
            <a:ext cx="3810000" cy="277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62828"/>
                </a:solidFill>
                <a:latin typeface="Merriweather"/>
                <a:ea typeface="Merriweather"/>
                <a:cs typeface="Merriweather"/>
                <a:sym typeface="Merriweather"/>
              </a:rPr>
              <a:t>Param-1 Collapse</a:t>
            </a:r>
            <a:endParaRPr sz="1800" b="1">
              <a:solidFill>
                <a:srgbClr val="C6282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571500" y="1809750"/>
            <a:ext cx="3429000" cy="219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142875" rIns="142875" bIns="1428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Medical Precision:</a:t>
            </a:r>
            <a:r>
              <a:rPr lang="en-US" sz="15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Accurate mapping of "dietary supplements" to "आहार पूरक".</a:t>
            </a:r>
            <a:endParaRPr sz="150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Magnitude:</a:t>
            </a:r>
            <a:r>
              <a:rPr lang="en-US" sz="15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Preserves values like "thousands" and "promising" ("आशाजनक").</a:t>
            </a:r>
            <a:endParaRPr sz="150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125"/>
              </a:spcBef>
              <a:spcAft>
                <a:spcPts val="1125"/>
              </a:spcAft>
              <a:buNone/>
            </a:pPr>
            <a:endParaRPr sz="150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191000" y="1809750"/>
            <a:ext cx="3429000" cy="202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142875" rIns="142875" bIns="1428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Vocabulary Miss:</a:t>
            </a:r>
            <a:r>
              <a:rPr lang="en-US" sz="15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Maps "dietary supplements" to "आहार सब्सिडी" (subsidy).</a:t>
            </a:r>
            <a:endParaRPr sz="150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Magnitude Errors:</a:t>
            </a:r>
            <a:r>
              <a:rPr lang="en-US" sz="15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Scaled "thousands" ("हजारों") to "lakhs" incorrectly.</a:t>
            </a:r>
            <a:endParaRPr sz="150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125"/>
              </a:spcBef>
              <a:spcAft>
                <a:spcPts val="1125"/>
              </a:spcAft>
              <a:buNone/>
            </a:pPr>
            <a:endParaRPr sz="150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7810500" y="1809750"/>
            <a:ext cx="3429000" cy="219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142875" rIns="142875" bIns="1428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Severe Hallucinations:</a:t>
            </a:r>
            <a:r>
              <a:rPr lang="en-US" sz="15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Injects "12MP camera" strings into medical text.</a:t>
            </a:r>
            <a:endParaRPr sz="150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Domain Collapse:</a:t>
            </a:r>
            <a:r>
              <a:rPr lang="en-US" sz="15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Medical advice replaced with smartphone review loops.</a:t>
            </a:r>
            <a:endParaRPr sz="150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125"/>
              </a:spcBef>
              <a:spcAft>
                <a:spcPts val="1125"/>
              </a:spcAft>
              <a:buNone/>
            </a:pPr>
            <a:endParaRPr sz="150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Qualitative Analysis</a:t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571500" y="2457450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 three-tier cascaded pipeline designed for modularity and high-precision translation: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952500" y="3257550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ASR: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Whisper V3 Turbo for accent-resistant Indian speech recognition.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952500" y="405765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MT: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Fine-tuned Sarvam-1 for semantic mastery.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952500" y="4552950"/>
            <a:ext cx="4857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TTS:</a:t>
            </a:r>
            <a:r>
              <a:rPr lang="en-US" sz="1500" b="0" i="0" u="none" strike="noStrike" cap="none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Azure Neural TTS (hi-IN-Madhur) for localized voice synthesis.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CASCADED S2ST ARCHITECTURE</a:t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575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576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529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/>
          <p:cNvPicPr preferRelativeResize="0"/>
          <p:nvPr/>
        </p:nvPicPr>
        <p:blipFill rotWithShape="1">
          <a:blip r:embed="rId5">
            <a:alphaModFix/>
          </a:blip>
          <a:srcRect t="23118"/>
          <a:stretch/>
        </p:blipFill>
        <p:spPr>
          <a:xfrm>
            <a:off x="6728175" y="1854850"/>
            <a:ext cx="4876800" cy="374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/>
          <p:nvPr/>
        </p:nvSpPr>
        <p:spPr>
          <a:xfrm>
            <a:off x="762000" y="571500"/>
            <a:ext cx="7722900" cy="51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30" b="1" i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REAL-TIME</a:t>
            </a:r>
            <a:r>
              <a:rPr lang="en-US" sz="333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330" b="1" i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DEPLOYMENT</a:t>
            </a:r>
            <a:endParaRPr sz="3330" b="1" i="0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571500" y="1333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Operationalized via a </a:t>
            </a:r>
            <a:r>
              <a:rPr lang="en-US" sz="1800" b="1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Gradio interface</a:t>
            </a:r>
            <a:r>
              <a:rPr lang="en-US" sz="1800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rPr>
              <a:t> for seamless, high-performance interaction across languages.</a:t>
            </a:r>
            <a:endParaRPr sz="1800">
              <a:solidFill>
                <a:srgbClr val="1A1A1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3" name="Google Shape;293;p26"/>
          <p:cNvGrpSpPr/>
          <p:nvPr/>
        </p:nvGrpSpPr>
        <p:grpSpPr>
          <a:xfrm>
            <a:off x="4925208" y="2005184"/>
            <a:ext cx="7103682" cy="4486587"/>
            <a:chOff x="6276975" y="2276475"/>
            <a:chExt cx="5343525" cy="3438525"/>
          </a:xfrm>
        </p:grpSpPr>
        <p:pic>
          <p:nvPicPr>
            <p:cNvPr id="294" name="Google Shape;294;p26"/>
            <p:cNvPicPr preferRelativeResize="0"/>
            <p:nvPr/>
          </p:nvPicPr>
          <p:blipFill rotWithShape="1">
            <a:blip r:embed="rId3">
              <a:alphaModFix/>
            </a:blip>
            <a:srcRect l="1009" r="1009"/>
            <a:stretch/>
          </p:blipFill>
          <p:spPr>
            <a:xfrm>
              <a:off x="6286500" y="2286000"/>
              <a:ext cx="5334000" cy="3429000"/>
            </a:xfrm>
            <a:prstGeom prst="roundRect">
              <a:avLst>
                <a:gd name="adj" fmla="val 3333"/>
              </a:avLst>
            </a:prstGeom>
            <a:noFill/>
            <a:ln>
              <a:noFill/>
            </a:ln>
          </p:spPr>
        </p:pic>
        <p:pic>
          <p:nvPicPr>
            <p:cNvPr id="295" name="Google Shape;295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76975" y="2276475"/>
              <a:ext cx="2867100" cy="2867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6" name="Google Shape;296;p26"/>
          <p:cNvGrpSpPr/>
          <p:nvPr/>
        </p:nvGrpSpPr>
        <p:grpSpPr>
          <a:xfrm>
            <a:off x="491478" y="3145805"/>
            <a:ext cx="3406011" cy="2503081"/>
            <a:chOff x="566738" y="2281238"/>
            <a:chExt cx="5343600" cy="2862300"/>
          </a:xfrm>
        </p:grpSpPr>
        <p:pic>
          <p:nvPicPr>
            <p:cNvPr id="297" name="Google Shape;297;p2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6738" y="2281238"/>
              <a:ext cx="5343600" cy="2862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26"/>
            <p:cNvSpPr txBox="1"/>
            <p:nvPr/>
          </p:nvSpPr>
          <p:spPr>
            <a:xfrm>
              <a:off x="1036885" y="2404216"/>
              <a:ext cx="4433700" cy="2616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15" b="1" i="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Video Demonstrations</a:t>
              </a:r>
              <a:endParaRPr sz="1815" b="1" i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615" b="1" i="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1530" b="1" i="0" u="sng">
                  <a:solidFill>
                    <a:schemeClr val="hlink"/>
                  </a:solidFill>
                  <a:latin typeface="DM Sans"/>
                  <a:ea typeface="DM Sans"/>
                  <a:cs typeface="DM Sans"/>
                  <a:sym typeface="DM Sans"/>
                  <a:hlinkClick r:id="rId6"/>
                </a:rPr>
                <a:t>English to Hindi</a:t>
              </a:r>
              <a:endParaRPr sz="1530" b="1">
                <a:solidFill>
                  <a:srgbClr val="1A1A1A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1875"/>
                </a:spcAft>
                <a:buNone/>
              </a:pPr>
              <a:r>
                <a:rPr lang="en-US" sz="1530" b="1">
                  <a:solidFill>
                    <a:srgbClr val="1A1A1A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1530" b="1" i="0" u="sng">
                  <a:solidFill>
                    <a:schemeClr val="hlink"/>
                  </a:solidFill>
                  <a:latin typeface="DM Sans"/>
                  <a:ea typeface="DM Sans"/>
                  <a:cs typeface="DM Sans"/>
                  <a:sym typeface="DM Sans"/>
                  <a:hlinkClick r:id="rId7"/>
                </a:rPr>
                <a:t>Hindi to English</a:t>
              </a:r>
              <a:endParaRPr sz="1275" b="1" i="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762000" y="571500"/>
            <a:ext cx="110643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AI Applications for Hindi Population</a:t>
            </a:r>
            <a:endParaRPr sz="36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6" name="Google Shape;306;p27"/>
          <p:cNvSpPr txBox="1"/>
          <p:nvPr/>
        </p:nvSpPr>
        <p:spPr>
          <a:xfrm>
            <a:off x="762000" y="1238250"/>
            <a:ext cx="107898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Practical, voice-first use cases across healthcare, agriculture, and tourism</a:t>
            </a:r>
            <a:endParaRPr sz="160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571500" y="1809750"/>
            <a:ext cx="34290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7"/>
          <p:cNvSpPr/>
          <p:nvPr/>
        </p:nvSpPr>
        <p:spPr>
          <a:xfrm>
            <a:off x="762000" y="2000250"/>
            <a:ext cx="476400" cy="476400"/>
          </a:xfrm>
          <a:prstGeom prst="ellipse">
            <a:avLst/>
          </a:prstGeom>
          <a:solidFill>
            <a:srgbClr val="00336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endParaRPr sz="2000"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9" name="Google Shape;309;p27"/>
          <p:cNvSpPr txBox="1"/>
          <p:nvPr/>
        </p:nvSpPr>
        <p:spPr>
          <a:xfrm>
            <a:off x="1381125" y="2047875"/>
            <a:ext cx="2381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Healthcare</a:t>
            </a:r>
            <a:endParaRPr sz="18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762000" y="2667000"/>
            <a:ext cx="3048000" cy="138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Multilingual medical diagnosis via ASR-MT-TTS pipeline</a:t>
            </a:r>
            <a:endParaRPr sz="125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Real-time accent-resistant symptom reporting for rural clinics</a:t>
            </a:r>
            <a:endParaRPr sz="125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5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Localized voice synthesis for patient instructions in Hindi</a:t>
            </a:r>
            <a:endParaRPr sz="125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4381500" y="1809750"/>
            <a:ext cx="34290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7"/>
          <p:cNvSpPr/>
          <p:nvPr/>
        </p:nvSpPr>
        <p:spPr>
          <a:xfrm>
            <a:off x="4572000" y="2000250"/>
            <a:ext cx="476400" cy="476400"/>
          </a:xfrm>
          <a:prstGeom prst="ellipse">
            <a:avLst/>
          </a:prstGeom>
          <a:solidFill>
            <a:srgbClr val="00336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endParaRPr sz="2000"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3" name="Google Shape;313;p27"/>
          <p:cNvSpPr txBox="1"/>
          <p:nvPr/>
        </p:nvSpPr>
        <p:spPr>
          <a:xfrm>
            <a:off x="5191125" y="2047875"/>
            <a:ext cx="2381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Agriculture</a:t>
            </a:r>
            <a:endParaRPr sz="18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4" name="Google Shape;314;p27"/>
          <p:cNvSpPr txBox="1"/>
          <p:nvPr/>
        </p:nvSpPr>
        <p:spPr>
          <a:xfrm>
            <a:off x="4572000" y="2667000"/>
            <a:ext cx="3048000" cy="138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Voice-enabled Mandi price discovery using fine-tuned Sarvam-1</a:t>
            </a:r>
            <a:endParaRPr sz="125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Agricultural scheme guidance via high-precision semantic translation</a:t>
            </a:r>
            <a:endParaRPr sz="125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5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Low-literacy friendly weather and pest alerts through TTS</a:t>
            </a:r>
            <a:endParaRPr sz="125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8191500" y="1809750"/>
            <a:ext cx="34290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8382000" y="2000250"/>
            <a:ext cx="476400" cy="476400"/>
          </a:xfrm>
          <a:prstGeom prst="ellipse">
            <a:avLst/>
          </a:prstGeom>
          <a:solidFill>
            <a:srgbClr val="00336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endParaRPr sz="2000"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7" name="Google Shape;317;p27"/>
          <p:cNvSpPr txBox="1"/>
          <p:nvPr/>
        </p:nvSpPr>
        <p:spPr>
          <a:xfrm>
            <a:off x="9001125" y="2047875"/>
            <a:ext cx="2381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Tourism</a:t>
            </a:r>
            <a:endParaRPr sz="18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8382000" y="2667000"/>
            <a:ext cx="3048000" cy="138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Hindi voice concierge for heritage storytelling</a:t>
            </a:r>
            <a:endParaRPr sz="125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Real-time cross-language navigation and booking assistance</a:t>
            </a:r>
            <a:endParaRPr sz="125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5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Safety support via seamless high-performance interaction</a:t>
            </a:r>
            <a:endParaRPr sz="125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571500" y="5524500"/>
            <a:ext cx="11049000" cy="762000"/>
          </a:xfrm>
          <a:prstGeom prst="roundRect">
            <a:avLst>
              <a:gd name="adj" fmla="val 20000"/>
            </a:avLst>
          </a:prstGeom>
          <a:solidFill>
            <a:srgbClr val="00336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5250" tIns="95250" rIns="95250" bIns="95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Design principle: Hindi-first, low-literacy friendly, voice-enabled, and culturally localized.</a:t>
            </a:r>
            <a:endParaRPr sz="1600"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8"/>
          <p:cNvSpPr/>
          <p:nvPr/>
        </p:nvSpPr>
        <p:spPr>
          <a:xfrm>
            <a:off x="571500" y="1333500"/>
            <a:ext cx="3429000" cy="3619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8"/>
          <p:cNvSpPr/>
          <p:nvPr/>
        </p:nvSpPr>
        <p:spPr>
          <a:xfrm>
            <a:off x="4381500" y="1333500"/>
            <a:ext cx="3429000" cy="3619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8"/>
          <p:cNvSpPr/>
          <p:nvPr/>
        </p:nvSpPr>
        <p:spPr>
          <a:xfrm>
            <a:off x="8191500" y="1333500"/>
            <a:ext cx="3429000" cy="3619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8" name="Google Shape;328;p28"/>
          <p:cNvPicPr preferRelativeResize="0"/>
          <p:nvPr/>
        </p:nvPicPr>
        <p:blipFill rotWithShape="1">
          <a:blip r:embed="rId4">
            <a:alphaModFix/>
          </a:blip>
          <a:srcRect t="199" b="209"/>
          <a:stretch/>
        </p:blipFill>
        <p:spPr>
          <a:xfrm>
            <a:off x="1985963" y="1714500"/>
            <a:ext cx="6000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8"/>
          <p:cNvSpPr txBox="1"/>
          <p:nvPr/>
        </p:nvSpPr>
        <p:spPr>
          <a:xfrm>
            <a:off x="762000" y="2381250"/>
            <a:ext cx="3048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Stability &gt; Scale</a:t>
            </a:r>
            <a:endParaRPr sz="18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0" name="Google Shape;330;p28"/>
          <p:cNvSpPr txBox="1"/>
          <p:nvPr/>
        </p:nvSpPr>
        <p:spPr>
          <a:xfrm>
            <a:off x="857250" y="2762250"/>
            <a:ext cx="28575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Parameter count is irrelevant if foundational tensor geometry (KV Cache/RoPE) is misaligned.</a:t>
            </a:r>
            <a:endParaRPr sz="140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31" name="Google Shape;331;p28"/>
          <p:cNvPicPr preferRelativeResize="0"/>
          <p:nvPr/>
        </p:nvPicPr>
        <p:blipFill rotWithShape="1">
          <a:blip r:embed="rId5">
            <a:alphaModFix/>
          </a:blip>
          <a:srcRect t="199" b="209"/>
          <a:stretch/>
        </p:blipFill>
        <p:spPr>
          <a:xfrm>
            <a:off x="5795963" y="1714500"/>
            <a:ext cx="6000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8"/>
          <p:cNvSpPr txBox="1"/>
          <p:nvPr/>
        </p:nvSpPr>
        <p:spPr>
          <a:xfrm>
            <a:off x="4572000" y="2381250"/>
            <a:ext cx="3048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Tokenizer Impact</a:t>
            </a:r>
            <a:endParaRPr sz="18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3" name="Google Shape;333;p28"/>
          <p:cNvSpPr txBox="1"/>
          <p:nvPr/>
        </p:nvSpPr>
        <p:spPr>
          <a:xfrm>
            <a:off x="4667250" y="2762250"/>
            <a:ext cx="28575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Native Indic tokenizers are the primary driver of superior COMET scores and 2-4x efficiency.</a:t>
            </a:r>
            <a:endParaRPr sz="140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4" name="Google Shape;334;p28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&amp; KEY INSIGHTS</a:t>
            </a:r>
            <a:endParaRPr/>
          </a:p>
        </p:txBody>
      </p:sp>
      <p:pic>
        <p:nvPicPr>
          <p:cNvPr id="335" name="Google Shape;335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7875" y="171450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 txBox="1"/>
          <p:nvPr/>
        </p:nvSpPr>
        <p:spPr>
          <a:xfrm>
            <a:off x="8382000" y="2381250"/>
            <a:ext cx="3048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Live Applicability</a:t>
            </a:r>
            <a:endParaRPr sz="18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8" name="Google Shape;338;p28"/>
          <p:cNvSpPr txBox="1"/>
          <p:nvPr/>
        </p:nvSpPr>
        <p:spPr>
          <a:xfrm>
            <a:off x="8477250" y="2762250"/>
            <a:ext cx="28575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Cascaded S2ST pipelines demonstrate the real-world feasibility of fine-tuned regional LLMs.</a:t>
            </a:r>
            <a:endParaRPr sz="1400" b="0">
              <a:solidFill>
                <a:srgbClr val="4B556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9"/>
          <p:cNvSpPr txBox="1"/>
          <p:nvPr/>
        </p:nvSpPr>
        <p:spPr>
          <a:xfrm>
            <a:off x="3785711" y="962025"/>
            <a:ext cx="4620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 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286000" y="2714625"/>
            <a:ext cx="7620000" cy="123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 sz="8000" b="1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992</Words>
  <Application>Microsoft Macintosh PowerPoint</Application>
  <PresentationFormat>Widescreen</PresentationFormat>
  <Paragraphs>176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DM Sans</vt:lpstr>
      <vt:lpstr>Calibri</vt:lpstr>
      <vt:lpstr>DM Sans Medium</vt:lpstr>
      <vt:lpstr>Merriweather</vt:lpstr>
      <vt:lpstr>Courier New</vt:lpstr>
      <vt:lpstr>Material Icons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Harsh Dahiya</cp:lastModifiedBy>
  <cp:revision>1</cp:revision>
  <dcterms:modified xsi:type="dcterms:W3CDTF">2026-05-14T18:01:29Z</dcterms:modified>
</cp:coreProperties>
</file>